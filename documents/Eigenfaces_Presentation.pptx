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822960"/>
            <a:ext cx="4572000" cy="4572000"/>
          </a:xfrm>
          <a:prstGeom prst="ellipse">
            <a:avLst/>
          </a:prstGeom>
          <a:solidFill>
            <a:srgbClr val="13243A"/>
          </a:solidFill>
          <a:ln w="19050">
            <a:solidFill>
              <a:srgbClr val="0F9D8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3108960"/>
            <a:ext cx="2560320" cy="2560320"/>
          </a:xfrm>
          <a:prstGeom prst="ellipse">
            <a:avLst/>
          </a:prstGeom>
          <a:solidFill>
            <a:srgbClr val="13243A"/>
          </a:solidFill>
          <a:ln w="12700">
            <a:solidFill>
              <a:srgbClr val="1DBDB0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 ·  MSDE COHORT 4  ·  2025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536192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Eigenfaces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85800" y="2578608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DBD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 Recognition via Principal Component Analysis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3182112"/>
            <a:ext cx="3291840" cy="22860"/>
          </a:xfrm>
          <a:prstGeom prst="rect">
            <a:avLst/>
          </a:prstGeom>
          <a:solidFill>
            <a:srgbClr val="0F9D8E">
              <a:alpha val="5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310128"/>
            <a:ext cx="2606040" cy="292608"/>
          </a:xfrm>
          <a:prstGeom prst="rect">
            <a:avLst/>
          </a:prstGeom>
          <a:solidFill>
            <a:srgbClr val="13243A"/>
          </a:solidFill>
          <a:ln w="6350">
            <a:solidFill>
              <a:srgbClr val="0F9D8E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101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AT&amp;T Olivetti Faces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0" y="3310128"/>
            <a:ext cx="2606040" cy="292608"/>
          </a:xfrm>
          <a:prstGeom prst="rect">
            <a:avLst/>
          </a:prstGeom>
          <a:solidFill>
            <a:srgbClr val="13243A"/>
          </a:solidFill>
          <a:ln w="6350">
            <a:solidFill>
              <a:srgbClr val="0F9D8E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3101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sklearn PCA / SVD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63640" y="3310128"/>
            <a:ext cx="2606040" cy="292608"/>
          </a:xfrm>
          <a:prstGeom prst="rect">
            <a:avLst/>
          </a:prstGeom>
          <a:solidFill>
            <a:srgbClr val="13243A"/>
          </a:solidFill>
          <a:ln w="6350">
            <a:solidFill>
              <a:srgbClr val="0F9D8E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3101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0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Self-Contained HTML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Presentation 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8132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70432" y="145389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70432" y="173736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 and motivation for face recognition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" y="230428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70432" y="227685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70432" y="256032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AT&amp;T Olivetti Faces — 400 images, 40 identities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312724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70432" y="309981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70432" y="338328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theory, SVD decomposition, eigenspace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85876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4360" y="395020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70432" y="392277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70432" y="420624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formulas: decomposition, projection, reconstruction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46320" y="138988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148132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13832" y="145389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513832" y="173736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sklearn → self-contained HTML bridge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221284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230428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13832" y="227685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13832" y="256032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accuracy and reconstruction quality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035808"/>
            <a:ext cx="411480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127248"/>
            <a:ext cx="457200" cy="457200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099816"/>
            <a:ext cx="3355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513832" y="3383280"/>
            <a:ext cx="3355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limitations, and future directions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Face Recognition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93192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25880"/>
            <a:ext cx="59436" cy="352044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264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73936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requires automatically identifying a person from a photograph — one of the most studied problems in computer vision.
</a:t>
            </a:r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difficulties: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raw pixel data (64 × 64 = 4,096 features)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in lighting, expression, and viewpoint across images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such as glasses change appearance significantly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fast, scalable matching across large identity sets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7764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28032" y="141732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00600" y="1719072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Faces do not occupy image space randomly — they concentrate on a low-dimensional manifold. PCA finds and exploits this structure.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3977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3017520"/>
            <a:ext cx="59436" cy="1828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272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Eigenfaces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456432"/>
            <a:ext cx="3611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to compress 4,096-dimensional face images into a compact k-component eigenspace. Represent each face as a short weight vector and use nearest-neighbor matching in that space for recognition.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AT&amp;T Olivetti Faces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5176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subjects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0060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each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4944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64×64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94944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706624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706624"/>
            <a:ext cx="59436" cy="219456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8072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Dataset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127248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at AT&amp;T Laboratories Cambridge (1992–1994). The de-facto benchmark for face recognition research.
</a:t>
            </a:r>
            <a:pPr indent="0" marL="0">
              <a:buNone/>
            </a:pPr>
            <a:r>
              <a:rPr lang="en-US" sz="10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captured: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 direction — left, right, frontal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 — smile, neutral, closed eyes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— with and without glasses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2706624"/>
            <a:ext cx="402336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82312" y="2798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ACCESS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145536"/>
            <a:ext cx="374904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sklearn.datasets import \
</a:t>
            </a:r>
            <a:pPr indent="0" marL="0">
              <a:buNone/>
            </a:pPr>
            <a:r>
              <a:rPr lang="en-US" sz="950" dirty="0">
                <a:solidFill>
                  <a:srgbClr val="68D3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fetch_olivetti_faces
</a:t>
            </a:r>
            <a:pPr indent="0" marL="0">
              <a:buNone/>
            </a:pPr>
            <a:r>
              <a:rPr lang="en-US" sz="950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 = fetch_olivetti_faces()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     = data.data  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(400, 4096)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    = data.target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(400,)
</a:t>
            </a:r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images = data.images  </a:t>
            </a:r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(400,64,64)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Eigenfaces Pipeline — 6 Steps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3252" y="1399032"/>
            <a:ext cx="493776" cy="493776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Matrix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N faces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rows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∈ ℝᴺˣᴰ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383841"/>
            <a:ext cx="91440" cy="32004"/>
          </a:xfrm>
          <a:prstGeom prst="rect">
            <a:avLst/>
          </a:prstGeom>
          <a:solidFill>
            <a:srgbClr val="0F9D8E">
              <a:alpha val="6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7452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90572" y="1399032"/>
            <a:ext cx="493776" cy="493776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9057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6596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Data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mean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 = X − μ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383841"/>
            <a:ext cx="91440" cy="32004"/>
          </a:xfrm>
          <a:prstGeom prst="rect">
            <a:avLst/>
          </a:prstGeom>
          <a:solidFill>
            <a:srgbClr val="0F9D8E">
              <a:alpha val="6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7892" y="1399032"/>
            <a:ext cx="493776" cy="493776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789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/ PCA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8328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X_c = U Σ Vᵀ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pca.fit(X)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383841"/>
            <a:ext cx="91440" cy="32004"/>
          </a:xfrm>
          <a:prstGeom prst="rect">
            <a:avLst/>
          </a:prstGeom>
          <a:solidFill>
            <a:srgbClr val="0F9D8E">
              <a:alpha val="6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5212" y="1399032"/>
            <a:ext cx="493776" cy="49377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521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rows of Vᵀ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pca.components_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383841"/>
            <a:ext cx="91440" cy="32004"/>
          </a:xfrm>
          <a:prstGeom prst="rect">
            <a:avLst/>
          </a:prstGeom>
          <a:solidFill>
            <a:srgbClr val="0F9D8E">
              <a:alpha val="6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42532" y="1399032"/>
            <a:ext cx="493776" cy="49377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253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1792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pca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.transform(X)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52360" y="2383841"/>
            <a:ext cx="91440" cy="32004"/>
          </a:xfrm>
          <a:prstGeom prst="rect">
            <a:avLst/>
          </a:prstGeom>
          <a:solidFill>
            <a:srgbClr val="0F9D8E">
              <a:alpha val="65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43800" y="1645920"/>
            <a:ext cx="1325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959852" y="1399032"/>
            <a:ext cx="493776" cy="493776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9852" y="13990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35240" y="177393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635240" y="2121408"/>
            <a:ext cx="1143000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argmin‖W−w_q‖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3364992"/>
            <a:ext cx="8138160" cy="594360"/>
          </a:xfrm>
          <a:prstGeom prst="rect">
            <a:avLst/>
          </a:prstGeom>
          <a:solidFill>
            <a:srgbClr val="E8F7F6"/>
          </a:solidFill>
          <a:ln w="6350">
            <a:solidFill>
              <a:srgbClr val="0F9D8E">
                <a:alpha val="4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336499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principle: </a:t>
            </a:r>
            <a:pPr indent="0" marL="0">
              <a:buNone/>
            </a:pPr>
            <a:r>
              <a:rPr lang="en-US" sz="100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recognition happens in the k-dimensional eigenspace — never in the original 4,096-pixel space. This is the efficiency of Eigenfaces.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Core Mathematical Formulas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316736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16736"/>
            <a:ext cx="59436" cy="68580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62456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DECOMPOSITION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85800" y="1591056"/>
            <a:ext cx="4937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X_c  =  U · Σ · Vᵀ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06440" y="136245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Centered data → left singular × diagonal × right singular vectors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084832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84832"/>
            <a:ext cx="59436" cy="68580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30552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VARIANCE RATIO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" y="2359152"/>
            <a:ext cx="4937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EVRᵢ  =  σᵢ²  /  Σⱼ σⱼ²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06440" y="213055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total variance captured by the i-th principal component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2852928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2852928"/>
            <a:ext cx="59436" cy="68580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9864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 (ENCODING)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" y="3127248"/>
            <a:ext cx="4937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 =  ( x − μ ) · Vᵏᵀ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806440" y="28986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face into eigenspace  →  pca.transform(x)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3621024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" y="3621024"/>
            <a:ext cx="59436" cy="68580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667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 (DECODING)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85800" y="3895344"/>
            <a:ext cx="4937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x̂  =  w · Vᵏ  +  μ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806440" y="366674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face from weights  →  pca.inverse_transform(w)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" y="4389120"/>
            <a:ext cx="81381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389120"/>
            <a:ext cx="59436" cy="6858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43484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RECOGNITION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" y="4663440"/>
            <a:ext cx="4937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  =  argminᵢ  ‖ W[i] − w_query ‖₂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806440" y="4434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search over all N training projections in eigenspace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Python → sklearn → HTML Bridge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444752" cy="109728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26464"/>
            <a:ext cx="1444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5564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eigenfaces.py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56816" y="168249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148840" y="1298448"/>
            <a:ext cx="1444752" cy="10972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426464"/>
            <a:ext cx="1444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48840" y="175564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PCA(k=50)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.fit(X)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02736" y="168249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794760" y="1298448"/>
            <a:ext cx="1444752" cy="10972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94760" y="1426464"/>
            <a:ext cx="1444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75564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 JSON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248656" y="168249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40680" y="1298448"/>
            <a:ext cx="1444752" cy="10972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40680" y="1426464"/>
            <a:ext cx="1444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175564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.replace()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94576" y="168249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086600" y="1298448"/>
            <a:ext cx="1444752" cy="109728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086600" y="1426464"/>
            <a:ext cx="1444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86600" y="1755648"/>
            <a:ext cx="1444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+ 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0F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visualise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2615184"/>
            <a:ext cx="39319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02920" y="2615184"/>
            <a:ext cx="59436" cy="228600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Execution Stages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5800" y="304495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[1/5]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fetch_olivetti_faces()  →  X (400, 4096)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" y="3392424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B3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[2/5]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PCA(n_components=50).fit(X)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5800" y="3739896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[3/5]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Downsample 64×64 → 32×32 via Pillow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" y="408736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[4/5]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Encode faces + eigenfaces → base64 JSON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" y="443484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[5/5]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Inject JSON → eigenfaces_olivetti.html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17720" y="2615184"/>
            <a:ext cx="402336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82312" y="27066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PATTERN?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73168" y="2999232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cannot run Python or sklearn.
</a:t>
            </a:r>
            <a:pPr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Pre-computing in Python and embedding all PCA results as a JSON payload gives a 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self-contained HTML file</a:t>
            </a:r>
            <a:pPr indent="0" marL="0">
              <a:buNone/>
            </a:pPr>
            <a:r>
              <a:rPr lang="en-US" sz="10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server, no runtime dependencies, works offline.
</a:t>
            </a:r>
            <a:pPr indent="0" marL="0">
              <a:buNone/>
            </a:pPr>
            <a:r>
              <a:rPr lang="en-US" sz="10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email, USB, or static hosting.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Interactive HTML Visualization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572768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98448"/>
            <a:ext cx="1572768" cy="512064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1298448"/>
            <a:ext cx="1060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83664"/>
            <a:ext cx="1353312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grid (40 cards)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to select query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400-face gallery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21408" y="1298448"/>
            <a:ext cx="1572768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21408" y="1298448"/>
            <a:ext cx="1572768" cy="51206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96896" y="1298448"/>
            <a:ext cx="1060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 / PCA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31136" y="1883664"/>
            <a:ext cx="1353312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face (pca.mean_)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Singular value spectrum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selector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85616" y="1298448"/>
            <a:ext cx="1572768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85616" y="1298448"/>
            <a:ext cx="1572768" cy="512064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85616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61104" y="1298448"/>
            <a:ext cx="1060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95344" y="1883664"/>
            <a:ext cx="1353312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variance curve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reference 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 eigenface thumbnails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49824" y="1298448"/>
            <a:ext cx="1572768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49824" y="1298448"/>
            <a:ext cx="1572768" cy="512064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25312" y="1298448"/>
            <a:ext cx="1060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59552" y="1883664"/>
            <a:ext cx="1353312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reconstructed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pca.inverse_transform(w)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k slider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14032" y="1298448"/>
            <a:ext cx="1572768" cy="2971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14032" y="1298448"/>
            <a:ext cx="1572768" cy="512064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14032" y="1298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589520" y="1298448"/>
            <a:ext cx="106070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1883664"/>
            <a:ext cx="1353312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query → best match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distance bar chart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 neighbours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02920" y="4453128"/>
            <a:ext cx="8138160" cy="457200"/>
          </a:xfrm>
          <a:prstGeom prst="rect">
            <a:avLst/>
          </a:prstGeom>
          <a:solidFill>
            <a:srgbClr val="E8F7F6"/>
          </a:solidFill>
          <a:ln w="6350">
            <a:solidFill>
              <a:srgbClr val="0F9D8E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4531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</a:t>
            </a:r>
            <a:pPr indent="0" marL="0">
              <a:buNone/>
            </a:pPr>
            <a:r>
              <a:rPr lang="en-US" sz="9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slider (1–50)  ·  Noise slider (0–60%)  ·  Recognize button  ·  New Query  ·  Click any identity card to set query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Recognition &amp; Reconstruction Results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~96%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0292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(k=50)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added noise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~78%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265176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(k=20)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5176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noise level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0060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90%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80060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k=10 components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49440" y="1298448"/>
            <a:ext cx="1920240" cy="1188720"/>
          </a:xfrm>
          <a:prstGeom prst="rect">
            <a:avLst/>
          </a:prstGeom>
          <a:solidFill>
            <a:srgbClr val="F4F7F9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0" y="13533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F9D8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200×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949440" y="1964131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49440" y="222565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4,096 → 20 weights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2920" y="2688336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2688336"/>
            <a:ext cx="59436" cy="219456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k on Performance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3127248"/>
            <a:ext cx="356616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captures broad lighting only
</a:t>
            </a:r>
            <a:pPr indent="0" marL="0">
              <a:buNone/>
            </a:pPr>
            <a:r>
              <a:rPr lang="en-US" sz="1050" b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10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90% variance, coarse structure
</a:t>
            </a:r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30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fine detail: glasses, expression
</a:t>
            </a:r>
            <a:pPr indent="0" marL="0">
              <a:buNone/>
            </a:pPr>
            <a:r>
              <a:rPr lang="en-US" sz="105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50</a:t>
            </a:r>
            <a:pPr indent="0" marL="0">
              <a:buNone/>
            </a:pPr>
            <a:r>
              <a:rPr lang="en-US" sz="1050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near-perfect reconstruction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2688336"/>
            <a:ext cx="4023360" cy="2194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82312" y="27797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73168" y="3090672"/>
            <a:ext cx="37490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illumination alignment — assumes consistent lighting conditions.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— cannot capture non-linear variations in face manifolds.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is O(N) — becomes slow for very large identity sets.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 representation — no explicit part-based (eye, nose) modelling.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Getting Started — Windows / Git Bash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426464"/>
            <a:ext cx="420624" cy="420624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26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1353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dependencies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scikit-learn numpy pillow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" y="2295144"/>
            <a:ext cx="420624" cy="420624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2221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project folder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514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/c/Users/YourName/Downloads/eigenfaces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035808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3163824"/>
            <a:ext cx="420624" cy="420624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0906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Python generator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3383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generate_eigenfaces.py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3904488"/>
            <a:ext cx="48463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6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76072" y="4032504"/>
            <a:ext cx="420624" cy="420624"/>
          </a:xfrm>
          <a:prstGeom prst="ellipse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15568" y="39593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result in browser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4251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9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eigenfaces_olivetti.html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40680" y="1298448"/>
            <a:ext cx="3200400" cy="3474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605272" y="13898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59552" y="1737360"/>
            <a:ext cx="2962656" cy="27432"/>
          </a:xfrm>
          <a:prstGeom prst="rect">
            <a:avLst/>
          </a:prstGeom>
          <a:solidFill>
            <a:srgbClr val="0F9D8E">
              <a:alpha val="2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9552" y="1783080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generate_eigenfaces.py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59552" y="201168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once to build final HTML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559552" y="2286000"/>
            <a:ext cx="2962656" cy="27432"/>
          </a:xfrm>
          <a:prstGeom prst="rect">
            <a:avLst/>
          </a:prstGeom>
          <a:solidFill>
            <a:srgbClr val="0F9D8E">
              <a:alpha val="2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2331720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eigenfaces_template.html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59552" y="256032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shell (placeholder)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59552" y="2834640"/>
            <a:ext cx="2962656" cy="27432"/>
          </a:xfrm>
          <a:prstGeom prst="rect">
            <a:avLst/>
          </a:prstGeom>
          <a:solidFill>
            <a:srgbClr val="0F9D8E">
              <a:alpha val="2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9552" y="2880360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eigenfaces_sklearn.html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59552" y="310896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— open anytime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59552" y="3383280"/>
            <a:ext cx="2962656" cy="27432"/>
          </a:xfrm>
          <a:prstGeom prst="rect">
            <a:avLst/>
          </a:prstGeom>
          <a:solidFill>
            <a:srgbClr val="0F9D8E">
              <a:alpha val="2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59552" y="3429000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eigenfaces_olivetti.html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59552" y="365760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 (generated)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59552" y="3931920"/>
            <a:ext cx="2962656" cy="27432"/>
          </a:xfrm>
          <a:prstGeom prst="rect">
            <a:avLst/>
          </a:prstGeom>
          <a:solidFill>
            <a:srgbClr val="0F9D8E">
              <a:alpha val="2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59552" y="3977640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DB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Eigenfaces_UserGuide.html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59552" y="4206240"/>
            <a:ext cx="2962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02920" y="4709160"/>
            <a:ext cx="4846320" cy="256032"/>
          </a:xfrm>
          <a:prstGeom prst="rect">
            <a:avLst/>
          </a:prstGeom>
          <a:solidFill>
            <a:srgbClr val="E8F7F6"/>
          </a:solidFill>
          <a:ln w="6350">
            <a:solidFill>
              <a:srgbClr val="0F9D8E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" y="47091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internet once for first download (~5 MB). Cached thereafter.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93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43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Eigenfaces in Context &amp; Future Directions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55280" y="484632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Comparison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18488"/>
          <a:ext cx="393192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914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~Accuracy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Eigenfaces (PCA)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unsupervised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Fisherfaces (LDA)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supervised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+ HOG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/ hand-crafted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CNN (VGGFace)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learning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D5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3630168"/>
            <a:ext cx="3931920" cy="1298448"/>
          </a:xfrm>
          <a:prstGeom prst="rect">
            <a:avLst/>
          </a:prstGeom>
          <a:solidFill>
            <a:srgbClr val="E8F7F6"/>
          </a:solidFill>
          <a:ln w="6350">
            <a:solidFill>
              <a:srgbClr val="0F9D8E">
                <a:alpha val="60000"/>
              </a:srgbClr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58368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Eigenfaces Still Matters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" y="4032504"/>
            <a:ext cx="35661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D5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being surpassed by deep learning, Eigenfaces is the clearest demonstration of dimensionality reduction applied to recognition — interpretable, computationally transparent, and directly teachable.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1298448"/>
            <a:ext cx="4023360" cy="3630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82312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73168" y="178308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73168" y="17830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102352" y="179222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Fisherfaces / LDA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102352" y="20116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class separability, not just variance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73168" y="228600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73168" y="22860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102352" y="229514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PCA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02352" y="25146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non-linear face manifolds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773168" y="278892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73168" y="2788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102352" y="279806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PCA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102352" y="30175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interpretable, part-based components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773168" y="329184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73168" y="3291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102352" y="330098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CNN Embeddings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102352" y="35204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eigenspace with learned feature vectors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73168" y="379476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73168" y="3794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02352" y="380390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LFW Dataset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102352" y="40233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13,000+ images, 5,700+ identities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73168" y="4297680"/>
            <a:ext cx="256032" cy="256032"/>
          </a:xfrm>
          <a:prstGeom prst="rect">
            <a:avLst/>
          </a:prstGeom>
          <a:solidFill>
            <a:srgbClr val="0F9D8E">
              <a:alpha val="28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73168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5102352" y="4306824"/>
            <a:ext cx="33832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102352" y="45262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recognition pipeline in the browser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389120" cy="4389120"/>
          </a:xfrm>
          <a:prstGeom prst="ellipse">
            <a:avLst/>
          </a:prstGeom>
          <a:solidFill>
            <a:srgbClr val="13243A"/>
          </a:solidFill>
          <a:ln w="19050">
            <a:solidFill>
              <a:srgbClr val="0F9D8E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13243A"/>
          </a:solidFill>
          <a:ln w="12700">
            <a:solidFill>
              <a:srgbClr val="1DBDB0">
                <a:alpha val="3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"/>
            <a:ext cx="59436" cy="256032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01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F9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5669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Summary &amp; Key Takeaways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1316736"/>
            <a:ext cx="8001000" cy="768096"/>
          </a:xfrm>
          <a:prstGeom prst="rect">
            <a:avLst/>
          </a:prstGeom>
          <a:solidFill>
            <a:srgbClr val="13243A"/>
          </a:solidFill>
          <a:ln w="6350">
            <a:solidFill>
              <a:srgbClr val="1E34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316736"/>
            <a:ext cx="59436" cy="768096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3716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SVD Foundation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645920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 applies truncated SVD to discover principal directions in face-space. Each face is compactly represented as a k-dimensional weight vector — drastically reducing storage and comparison cost.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203704"/>
            <a:ext cx="8001000" cy="768096"/>
          </a:xfrm>
          <a:prstGeom prst="rect">
            <a:avLst/>
          </a:prstGeom>
          <a:solidFill>
            <a:srgbClr val="13243A"/>
          </a:solidFill>
          <a:ln w="6350">
            <a:solidFill>
              <a:srgbClr val="1E34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203704"/>
            <a:ext cx="59436" cy="768096"/>
          </a:xfrm>
          <a:prstGeom prst="rect">
            <a:avLst/>
          </a:prstGeom>
          <a:solidFill>
            <a:srgbClr val="0F9D8E"/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258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sklearn Pipeline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2532888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PCA computation uses sklearn.decomposition.PCA on the genuine AT&amp;T Olivetti dataset — 400 real face images. No simulated or placeholder data in the final output.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8001000" cy="768096"/>
          </a:xfrm>
          <a:prstGeom prst="rect">
            <a:avLst/>
          </a:prstGeom>
          <a:solidFill>
            <a:srgbClr val="13243A"/>
          </a:solidFill>
          <a:ln w="6350">
            <a:solidFill>
              <a:srgbClr val="1E34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90672"/>
            <a:ext cx="59436" cy="76809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31455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→ HTML Bridge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" y="3419856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computation runs once in Python; results are embedded as base64 JSON into a fully self-contained HTML file. No server, no runtime, completely offline-ready.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8001000" cy="768096"/>
          </a:xfrm>
          <a:prstGeom prst="rect">
            <a:avLst/>
          </a:prstGeom>
          <a:solidFill>
            <a:srgbClr val="13243A"/>
          </a:solidFill>
          <a:ln w="6350">
            <a:solidFill>
              <a:srgbClr val="1E344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3977640"/>
            <a:ext cx="59436" cy="76809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03250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BD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Performance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4672" y="4306824"/>
            <a:ext cx="7635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matching in eigenspace achieves ~96% accuracy on the Olivetti dataset at k=50 with no noise — delivered through an interactive 5-step browser visualization.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40080" y="4828032"/>
            <a:ext cx="8001000" cy="20117"/>
          </a:xfrm>
          <a:prstGeom prst="rect">
            <a:avLst/>
          </a:prstGeom>
          <a:solidFill>
            <a:srgbClr val="0F9D8E">
              <a:alpha val="50000"/>
            </a:srgbClr>
          </a:solidFill>
          <a:ln w="12700">
            <a:solidFill>
              <a:srgbClr val="0F9D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864608"/>
            <a:ext cx="8001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5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Eigenfaces  ·  sklearn PCA  ·  AT&amp;T Olivetti Faces  ·  MSDE Cohort 4  · 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Eigenfaces — Face Recognition via PCA</dc:title>
  <dc:subject>PptxGenJS Presentation</dc:subject>
  <dc:creator>MSDE Cohort 4</dc:creator>
  <cp:lastModifiedBy>MSDE Cohort 4</cp:lastModifiedBy>
  <cp:revision>1</cp:revision>
  <dcterms:created xsi:type="dcterms:W3CDTF">2026-03-13T02:53:25Z</dcterms:created>
  <dcterms:modified xsi:type="dcterms:W3CDTF">2026-03-13T02:53:25Z</dcterms:modified>
</cp:coreProperties>
</file>